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Bold" panose="020B0704020202020204" pitchFamily="34" charset="0"/>
      <p:regular r:id="rId12"/>
      <p:bold r:id="rId13"/>
    </p:embeddedFont>
    <p:embeddedFont>
      <p:font typeface="Crusoe Text" panose="020B0604020202020204" charset="0"/>
      <p:regular r:id="rId14"/>
    </p:embeddedFont>
    <p:embeddedFont>
      <p:font typeface="Crusoe Text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6" d="100"/>
          <a:sy n="46" d="100"/>
        </p:scale>
        <p:origin x="75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30-Mar-26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30-Mar-26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30-Mar-26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30-Mar-26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30-Mar-26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30-Mar-26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1111" b="-61111"/>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4551101" y="3609972"/>
            <a:ext cx="9185798" cy="3875629"/>
          </a:xfrm>
          <a:prstGeom prst="rect">
            <a:avLst/>
          </a:prstGeom>
        </p:spPr>
        <p:txBody>
          <a:bodyPr lIns="0" tIns="0" rIns="0" bIns="0" rtlCol="0" anchor="t">
            <a:spAutoFit/>
          </a:bodyPr>
          <a:lstStyle/>
          <a:p>
            <a:pPr marL="0" lvl="0" indent="0" algn="ctr">
              <a:lnSpc>
                <a:spcPts val="14958"/>
              </a:lnSpc>
            </a:pPr>
            <a:r>
              <a:rPr lang="en-US" sz="14958" b="1">
                <a:solidFill>
                  <a:srgbClr val="FFFFFF"/>
                </a:solidFill>
                <a:latin typeface="Crusoe Text Bold"/>
                <a:ea typeface="Crusoe Text Bold"/>
                <a:cs typeface="Crusoe Text Bold"/>
                <a:sym typeface="Crusoe Text Bold"/>
              </a:rPr>
              <a:t>COFFEE SHOP</a:t>
            </a:r>
          </a:p>
        </p:txBody>
      </p:sp>
      <p:sp>
        <p:nvSpPr>
          <p:cNvPr id="5" name="TextBox 5"/>
          <p:cNvSpPr txBox="1"/>
          <p:nvPr/>
        </p:nvSpPr>
        <p:spPr>
          <a:xfrm>
            <a:off x="1576748" y="981075"/>
            <a:ext cx="2974353" cy="349250"/>
          </a:xfrm>
          <a:prstGeom prst="rect">
            <a:avLst/>
          </a:prstGeom>
        </p:spPr>
        <p:txBody>
          <a:bodyPr lIns="0" tIns="0" rIns="0" bIns="0" rtlCol="0" anchor="t">
            <a:spAutoFit/>
          </a:bodyPr>
          <a:lstStyle/>
          <a:p>
            <a:pPr marL="0" lvl="0" indent="0" algn="l">
              <a:lnSpc>
                <a:spcPts val="2800"/>
              </a:lnSpc>
              <a:spcBef>
                <a:spcPct val="0"/>
              </a:spcBef>
            </a:pPr>
            <a:r>
              <a:rPr lang="en-US" sz="2000">
                <a:solidFill>
                  <a:srgbClr val="FFFFFF"/>
                </a:solidFill>
                <a:latin typeface="Crusoe Text"/>
                <a:ea typeface="Crusoe Text"/>
                <a:cs typeface="Crusoe Text"/>
                <a:sym typeface="Crusoe Text"/>
              </a:rPr>
              <a:t>Bright Coffee Shop</a:t>
            </a:r>
          </a:p>
        </p:txBody>
      </p:sp>
      <p:sp>
        <p:nvSpPr>
          <p:cNvPr id="6" name="Freeform 6"/>
          <p:cNvSpPr/>
          <p:nvPr/>
        </p:nvSpPr>
        <p:spPr>
          <a:xfrm>
            <a:off x="5540943" y="5988255"/>
            <a:ext cx="466798" cy="466798"/>
          </a:xfrm>
          <a:custGeom>
            <a:avLst/>
            <a:gdLst/>
            <a:ahLst/>
            <a:cxnLst/>
            <a:rect l="l" t="t" r="r" b="b"/>
            <a:pathLst>
              <a:path w="466798" h="466798">
                <a:moveTo>
                  <a:pt x="0" y="0"/>
                </a:moveTo>
                <a:lnTo>
                  <a:pt x="466798" y="0"/>
                </a:lnTo>
                <a:lnTo>
                  <a:pt x="466798" y="466798"/>
                </a:lnTo>
                <a:lnTo>
                  <a:pt x="0" y="4667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2280259" y="5988255"/>
            <a:ext cx="466798" cy="466798"/>
          </a:xfrm>
          <a:custGeom>
            <a:avLst/>
            <a:gdLst/>
            <a:ahLst/>
            <a:cxnLst/>
            <a:rect l="l" t="t" r="r" b="b"/>
            <a:pathLst>
              <a:path w="466798" h="466798">
                <a:moveTo>
                  <a:pt x="0" y="0"/>
                </a:moveTo>
                <a:lnTo>
                  <a:pt x="466798" y="0"/>
                </a:lnTo>
                <a:lnTo>
                  <a:pt x="466798" y="466798"/>
                </a:lnTo>
                <a:lnTo>
                  <a:pt x="0" y="4667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16155691" y="3011191"/>
            <a:ext cx="4264618" cy="4264618"/>
          </a:xfrm>
          <a:custGeom>
            <a:avLst/>
            <a:gdLst/>
            <a:ahLst/>
            <a:cxnLst/>
            <a:rect l="l" t="t" r="r" b="b"/>
            <a:pathLst>
              <a:path w="4264618" h="4264618">
                <a:moveTo>
                  <a:pt x="0" y="0"/>
                </a:moveTo>
                <a:lnTo>
                  <a:pt x="4264618" y="0"/>
                </a:lnTo>
                <a:lnTo>
                  <a:pt x="4264618" y="4264618"/>
                </a:lnTo>
                <a:lnTo>
                  <a:pt x="0" y="42646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 name="Freeform 9"/>
          <p:cNvSpPr/>
          <p:nvPr/>
        </p:nvSpPr>
        <p:spPr>
          <a:xfrm>
            <a:off x="-2132309" y="3011191"/>
            <a:ext cx="4264618" cy="4264618"/>
          </a:xfrm>
          <a:custGeom>
            <a:avLst/>
            <a:gdLst/>
            <a:ahLst/>
            <a:cxnLst/>
            <a:rect l="l" t="t" r="r" b="b"/>
            <a:pathLst>
              <a:path w="4264618" h="4264618">
                <a:moveTo>
                  <a:pt x="0" y="0"/>
                </a:moveTo>
                <a:lnTo>
                  <a:pt x="4264618" y="0"/>
                </a:lnTo>
                <a:lnTo>
                  <a:pt x="4264618" y="4264618"/>
                </a:lnTo>
                <a:lnTo>
                  <a:pt x="0" y="42646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222" b="-8222"/>
            </a:stretch>
          </a:blipFill>
        </p:spPr>
        <p:txBody>
          <a:bodyPr/>
          <a:lstStyle/>
          <a:p>
            <a:endParaRPr lang="en-US"/>
          </a:p>
        </p:txBody>
      </p:sp>
      <p:sp>
        <p:nvSpPr>
          <p:cNvPr id="3" name="TextBox 3"/>
          <p:cNvSpPr txBox="1"/>
          <p:nvPr/>
        </p:nvSpPr>
        <p:spPr>
          <a:xfrm>
            <a:off x="1230754" y="3558140"/>
            <a:ext cx="4373546" cy="1057275"/>
          </a:xfrm>
          <a:prstGeom prst="rect">
            <a:avLst/>
          </a:prstGeom>
        </p:spPr>
        <p:txBody>
          <a:bodyPr lIns="0" tIns="0" rIns="0" bIns="0" rtlCol="0" anchor="t">
            <a:spAutoFit/>
          </a:bodyPr>
          <a:lstStyle/>
          <a:p>
            <a:pPr marL="0" lvl="0" indent="0" algn="l">
              <a:lnSpc>
                <a:spcPts val="8400"/>
              </a:lnSpc>
              <a:spcBef>
                <a:spcPct val="0"/>
              </a:spcBef>
            </a:pPr>
            <a:r>
              <a:rPr lang="en-US" sz="6000">
                <a:solidFill>
                  <a:srgbClr val="000000"/>
                </a:solidFill>
                <a:latin typeface="Arial"/>
                <a:ea typeface="Arial"/>
                <a:cs typeface="Arial"/>
                <a:sym typeface="Arial"/>
              </a:rPr>
              <a:t>CONTENT</a:t>
            </a:r>
          </a:p>
        </p:txBody>
      </p:sp>
      <p:sp>
        <p:nvSpPr>
          <p:cNvPr id="4" name="TextBox 4"/>
          <p:cNvSpPr txBox="1"/>
          <p:nvPr/>
        </p:nvSpPr>
        <p:spPr>
          <a:xfrm>
            <a:off x="1230754" y="5076825"/>
            <a:ext cx="7021761" cy="1562101"/>
          </a:xfrm>
          <a:prstGeom prst="rect">
            <a:avLst/>
          </a:prstGeom>
        </p:spPr>
        <p:txBody>
          <a:bodyPr lIns="0" tIns="0" rIns="0" bIns="0" rtlCol="0" anchor="t">
            <a:spAutoFit/>
          </a:bodyPr>
          <a:lstStyle/>
          <a:p>
            <a:pPr marL="647695" lvl="1" indent="-323848" algn="l">
              <a:lnSpc>
                <a:spcPts val="4199"/>
              </a:lnSpc>
              <a:buAutoNum type="arabicPeriod"/>
            </a:pPr>
            <a:r>
              <a:rPr lang="en-US" sz="2999">
                <a:solidFill>
                  <a:srgbClr val="000000"/>
                </a:solidFill>
                <a:latin typeface="Arial"/>
                <a:ea typeface="Arial"/>
                <a:cs typeface="Arial"/>
                <a:sym typeface="Arial"/>
              </a:rPr>
              <a:t>Introduction</a:t>
            </a:r>
          </a:p>
          <a:p>
            <a:pPr marL="647695" lvl="1" indent="-323848" algn="l">
              <a:lnSpc>
                <a:spcPts val="4199"/>
              </a:lnSpc>
              <a:buAutoNum type="arabicPeriod"/>
            </a:pPr>
            <a:r>
              <a:rPr lang="en-US" sz="2999">
                <a:solidFill>
                  <a:srgbClr val="000000"/>
                </a:solidFill>
                <a:latin typeface="Arial"/>
                <a:ea typeface="Arial"/>
                <a:cs typeface="Arial"/>
                <a:sym typeface="Arial"/>
              </a:rPr>
              <a:t>Data Analysis</a:t>
            </a:r>
          </a:p>
          <a:p>
            <a:pPr marL="647695" lvl="1" indent="-323848" algn="l">
              <a:lnSpc>
                <a:spcPts val="4199"/>
              </a:lnSpc>
              <a:spcBef>
                <a:spcPct val="0"/>
              </a:spcBef>
              <a:buAutoNum type="arabicPeriod"/>
            </a:pPr>
            <a:r>
              <a:rPr lang="en-US" sz="2999">
                <a:solidFill>
                  <a:srgbClr val="000000"/>
                </a:solidFill>
                <a:latin typeface="Arial"/>
                <a:ea typeface="Arial"/>
                <a:cs typeface="Arial"/>
                <a:sym typeface="Arial"/>
              </a:rPr>
              <a:t>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8222" b="-8222"/>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2608332" y="2592639"/>
            <a:ext cx="5216664" cy="5216664"/>
          </a:xfrm>
          <a:custGeom>
            <a:avLst/>
            <a:gdLst/>
            <a:ahLst/>
            <a:cxnLst/>
            <a:rect l="l" t="t" r="r" b="b"/>
            <a:pathLst>
              <a:path w="5216664" h="5216664">
                <a:moveTo>
                  <a:pt x="0" y="0"/>
                </a:moveTo>
                <a:lnTo>
                  <a:pt x="5216664" y="0"/>
                </a:lnTo>
                <a:lnTo>
                  <a:pt x="5216664" y="5216664"/>
                </a:lnTo>
                <a:lnTo>
                  <a:pt x="0" y="52166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1576748" y="2984769"/>
            <a:ext cx="14444142" cy="5487443"/>
          </a:xfrm>
          <a:prstGeom prst="rect">
            <a:avLst/>
          </a:prstGeom>
        </p:spPr>
        <p:txBody>
          <a:bodyPr lIns="0" tIns="0" rIns="0" bIns="0" rtlCol="0" anchor="t">
            <a:spAutoFit/>
          </a:bodyPr>
          <a:lstStyle/>
          <a:p>
            <a:pPr marL="0" lvl="0" indent="0" algn="just">
              <a:lnSpc>
                <a:spcPts val="3617"/>
              </a:lnSpc>
            </a:pPr>
            <a:r>
              <a:rPr lang="en-US" sz="2583">
                <a:solidFill>
                  <a:srgbClr val="000000"/>
                </a:solidFill>
                <a:latin typeface="Arial"/>
                <a:ea typeface="Arial"/>
                <a:cs typeface="Arial"/>
                <a:sym typeface="Arial"/>
              </a:rPr>
              <a:t>Analysis of Bright Coffee Shop Sales Data</a:t>
            </a:r>
          </a:p>
          <a:p>
            <a:pPr marL="0" lvl="0" indent="0" algn="just">
              <a:lnSpc>
                <a:spcPts val="3617"/>
              </a:lnSpc>
            </a:pPr>
            <a:endParaRPr lang="en-US" sz="2583">
              <a:solidFill>
                <a:srgbClr val="000000"/>
              </a:solidFill>
              <a:latin typeface="Arial"/>
              <a:ea typeface="Arial"/>
              <a:cs typeface="Arial"/>
              <a:sym typeface="Arial"/>
            </a:endParaRPr>
          </a:p>
          <a:p>
            <a:pPr marL="0" lvl="0" indent="0" algn="just">
              <a:lnSpc>
                <a:spcPts val="3617"/>
              </a:lnSpc>
            </a:pPr>
            <a:r>
              <a:rPr lang="en-US" sz="2583">
                <a:solidFill>
                  <a:srgbClr val="000000"/>
                </a:solidFill>
                <a:latin typeface="Arial"/>
                <a:ea typeface="Arial"/>
                <a:cs typeface="Arial"/>
                <a:sym typeface="Arial"/>
              </a:rPr>
              <a:t>This project examines the sales data from Bright Coffee Shop to reveal important business insights.</a:t>
            </a:r>
          </a:p>
          <a:p>
            <a:pPr marL="0" lvl="0" indent="0" algn="just">
              <a:lnSpc>
                <a:spcPts val="3617"/>
              </a:lnSpc>
            </a:pPr>
            <a:endParaRPr lang="en-US" sz="2583">
              <a:solidFill>
                <a:srgbClr val="000000"/>
              </a:solidFill>
              <a:latin typeface="Arial"/>
              <a:ea typeface="Arial"/>
              <a:cs typeface="Arial"/>
              <a:sym typeface="Arial"/>
            </a:endParaRPr>
          </a:p>
          <a:p>
            <a:pPr marL="0" lvl="0" indent="0" algn="just">
              <a:lnSpc>
                <a:spcPts val="3617"/>
              </a:lnSpc>
            </a:pPr>
            <a:r>
              <a:rPr lang="en-US" sz="2583" b="1">
                <a:solidFill>
                  <a:srgbClr val="000000"/>
                </a:solidFill>
                <a:latin typeface="Arial Bold"/>
                <a:ea typeface="Arial Bold"/>
                <a:cs typeface="Arial Bold"/>
                <a:sym typeface="Arial Bold"/>
              </a:rPr>
              <a:t>Key Focus Areas</a:t>
            </a:r>
          </a:p>
          <a:p>
            <a:pPr marL="0" lvl="0" indent="0" algn="just">
              <a:lnSpc>
                <a:spcPts val="3617"/>
              </a:lnSpc>
            </a:pPr>
            <a:endParaRPr lang="en-US" sz="2583" b="1">
              <a:solidFill>
                <a:srgbClr val="000000"/>
              </a:solidFill>
              <a:latin typeface="Arial Bold"/>
              <a:ea typeface="Arial Bold"/>
              <a:cs typeface="Arial Bold"/>
              <a:sym typeface="Arial Bold"/>
            </a:endParaRPr>
          </a:p>
          <a:p>
            <a:pPr marL="557875" lvl="1" indent="-278938" algn="just">
              <a:lnSpc>
                <a:spcPts val="3617"/>
              </a:lnSpc>
              <a:buFont typeface="Arial"/>
              <a:buChar char="•"/>
            </a:pPr>
            <a:r>
              <a:rPr lang="en-US" sz="2583">
                <a:solidFill>
                  <a:srgbClr val="000000"/>
                </a:solidFill>
                <a:latin typeface="Arial"/>
                <a:ea typeface="Arial"/>
                <a:cs typeface="Arial"/>
                <a:sym typeface="Arial"/>
              </a:rPr>
              <a:t>Customer behavior</a:t>
            </a:r>
          </a:p>
          <a:p>
            <a:pPr marL="557875" lvl="1" indent="-278938" algn="just">
              <a:lnSpc>
                <a:spcPts val="3617"/>
              </a:lnSpc>
              <a:buFont typeface="Arial"/>
              <a:buChar char="•"/>
            </a:pPr>
            <a:r>
              <a:rPr lang="en-US" sz="2583">
                <a:solidFill>
                  <a:srgbClr val="000000"/>
                </a:solidFill>
                <a:latin typeface="Arial"/>
                <a:ea typeface="Arial"/>
                <a:cs typeface="Arial"/>
                <a:sym typeface="Arial"/>
              </a:rPr>
              <a:t>Product performance</a:t>
            </a:r>
          </a:p>
          <a:p>
            <a:pPr marL="557875" lvl="1" indent="-278938" algn="just">
              <a:lnSpc>
                <a:spcPts val="3617"/>
              </a:lnSpc>
              <a:buFont typeface="Arial"/>
              <a:buChar char="•"/>
            </a:pPr>
            <a:r>
              <a:rPr lang="en-US" sz="2583">
                <a:solidFill>
                  <a:srgbClr val="000000"/>
                </a:solidFill>
                <a:latin typeface="Arial"/>
                <a:ea typeface="Arial"/>
                <a:cs typeface="Arial"/>
                <a:sym typeface="Arial"/>
              </a:rPr>
              <a:t>Sales performance</a:t>
            </a:r>
          </a:p>
          <a:p>
            <a:pPr marL="557875" lvl="1" indent="-278938" algn="just">
              <a:lnSpc>
                <a:spcPts val="3617"/>
              </a:lnSpc>
              <a:buFont typeface="Arial"/>
              <a:buChar char="•"/>
            </a:pPr>
            <a:r>
              <a:rPr lang="en-US" sz="2583">
                <a:solidFill>
                  <a:srgbClr val="000000"/>
                </a:solidFill>
                <a:latin typeface="Arial"/>
                <a:ea typeface="Arial"/>
                <a:cs typeface="Arial"/>
                <a:sym typeface="Arial"/>
              </a:rPr>
              <a:t>Revenue trends</a:t>
            </a:r>
          </a:p>
          <a:p>
            <a:pPr algn="just">
              <a:lnSpc>
                <a:spcPts val="3617"/>
              </a:lnSpc>
            </a:pPr>
            <a:endParaRPr lang="en-US" sz="2583">
              <a:solidFill>
                <a:srgbClr val="000000"/>
              </a:solidFill>
              <a:latin typeface="Arial"/>
              <a:ea typeface="Arial"/>
              <a:cs typeface="Arial"/>
              <a:sym typeface="Arial"/>
            </a:endParaRPr>
          </a:p>
          <a:p>
            <a:pPr marL="0" lvl="0" indent="0" algn="just">
              <a:lnSpc>
                <a:spcPts val="3617"/>
              </a:lnSpc>
              <a:spcBef>
                <a:spcPct val="0"/>
              </a:spcBef>
            </a:pPr>
            <a:r>
              <a:rPr lang="en-US" sz="2583">
                <a:solidFill>
                  <a:srgbClr val="000000"/>
                </a:solidFill>
                <a:latin typeface="Arial"/>
                <a:ea typeface="Arial"/>
                <a:cs typeface="Arial"/>
                <a:sym typeface="Arial"/>
              </a:rPr>
              <a:t>This analysis serves as a valuable tool for improving decision-making based on historical data.</a:t>
            </a:r>
          </a:p>
        </p:txBody>
      </p:sp>
      <p:sp>
        <p:nvSpPr>
          <p:cNvPr id="6" name="TextBox 6"/>
          <p:cNvSpPr txBox="1"/>
          <p:nvPr/>
        </p:nvSpPr>
        <p:spPr>
          <a:xfrm>
            <a:off x="1576748" y="811213"/>
            <a:ext cx="3975994" cy="514351"/>
          </a:xfrm>
          <a:prstGeom prst="rect">
            <a:avLst/>
          </a:prstGeom>
        </p:spPr>
        <p:txBody>
          <a:bodyPr lIns="0" tIns="0" rIns="0" bIns="0" rtlCol="0" anchor="t">
            <a:spAutoFit/>
          </a:bodyPr>
          <a:lstStyle/>
          <a:p>
            <a:pPr marL="0" lvl="0" indent="0" algn="l">
              <a:lnSpc>
                <a:spcPts val="4199"/>
              </a:lnSpc>
              <a:spcBef>
                <a:spcPct val="0"/>
              </a:spcBef>
            </a:pPr>
            <a:r>
              <a:rPr lang="en-US" sz="2999">
                <a:solidFill>
                  <a:srgbClr val="000000"/>
                </a:solidFill>
                <a:latin typeface="Arial"/>
                <a:ea typeface="Arial"/>
                <a:cs typeface="Arial"/>
                <a:sym typeface="Arial"/>
              </a:rPr>
              <a:t>Bright Coffee Shop</a:t>
            </a:r>
          </a:p>
        </p:txBody>
      </p:sp>
      <p:sp>
        <p:nvSpPr>
          <p:cNvPr id="7" name="TextBox 7"/>
          <p:cNvSpPr txBox="1"/>
          <p:nvPr/>
        </p:nvSpPr>
        <p:spPr>
          <a:xfrm>
            <a:off x="1576748" y="2273552"/>
            <a:ext cx="6033421" cy="641952"/>
          </a:xfrm>
          <a:prstGeom prst="rect">
            <a:avLst/>
          </a:prstGeom>
        </p:spPr>
        <p:txBody>
          <a:bodyPr lIns="0" tIns="0" rIns="0" bIns="0" rtlCol="0" anchor="t">
            <a:spAutoFit/>
          </a:bodyPr>
          <a:lstStyle/>
          <a:p>
            <a:pPr marL="0" lvl="0" indent="0" algn="l">
              <a:lnSpc>
                <a:spcPts val="5040"/>
              </a:lnSpc>
              <a:spcBef>
                <a:spcPct val="0"/>
              </a:spcBef>
            </a:pPr>
            <a:r>
              <a:rPr lang="en-US" sz="3600">
                <a:solidFill>
                  <a:srgbClr val="000000"/>
                </a:solidFill>
                <a:latin typeface="Arial"/>
                <a:ea typeface="Arial"/>
                <a:cs typeface="Arial"/>
                <a:sym typeface="Arial"/>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222" b="-8222"/>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3216546" y="2628305"/>
            <a:ext cx="11854908" cy="7557504"/>
          </a:xfrm>
          <a:custGeom>
            <a:avLst/>
            <a:gdLst/>
            <a:ahLst/>
            <a:cxnLst/>
            <a:rect l="l" t="t" r="r" b="b"/>
            <a:pathLst>
              <a:path w="11854908" h="7557504">
                <a:moveTo>
                  <a:pt x="0" y="0"/>
                </a:moveTo>
                <a:lnTo>
                  <a:pt x="11854908" y="0"/>
                </a:lnTo>
                <a:lnTo>
                  <a:pt x="11854908" y="7557504"/>
                </a:lnTo>
                <a:lnTo>
                  <a:pt x="0" y="7557504"/>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576748" y="801688"/>
            <a:ext cx="5280972" cy="533466"/>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Arial"/>
                <a:ea typeface="Arial"/>
                <a:cs typeface="Arial"/>
                <a:sym typeface="Arial"/>
              </a:rPr>
              <a:t>Analysis: Best Selling product</a:t>
            </a:r>
          </a:p>
        </p:txBody>
      </p:sp>
      <p:sp>
        <p:nvSpPr>
          <p:cNvPr id="6" name="TextBox 6"/>
          <p:cNvSpPr txBox="1"/>
          <p:nvPr/>
        </p:nvSpPr>
        <p:spPr>
          <a:xfrm>
            <a:off x="1891115" y="1361480"/>
            <a:ext cx="12437745" cy="415224"/>
          </a:xfrm>
          <a:prstGeom prst="rect">
            <a:avLst/>
          </a:prstGeom>
        </p:spPr>
        <p:txBody>
          <a:bodyPr lIns="0" tIns="0" rIns="0" bIns="0" rtlCol="0" anchor="t">
            <a:spAutoFit/>
          </a:bodyPr>
          <a:lstStyle/>
          <a:p>
            <a:pPr marL="0" lvl="0" indent="0" algn="l">
              <a:lnSpc>
                <a:spcPts val="3359"/>
              </a:lnSpc>
              <a:spcBef>
                <a:spcPct val="0"/>
              </a:spcBef>
            </a:pPr>
            <a:r>
              <a:rPr lang="en-US" sz="2400">
                <a:solidFill>
                  <a:srgbClr val="000000"/>
                </a:solidFill>
                <a:latin typeface="Arial"/>
                <a:ea typeface="Arial"/>
                <a:cs typeface="Arial"/>
                <a:sym typeface="Arial"/>
              </a:rPr>
              <a:t>Insight: Coffee and Tea dominate sales, contributing the majority of revenue.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8222" b="-8222"/>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3141033" y="3021253"/>
            <a:ext cx="11464661" cy="7022105"/>
          </a:xfrm>
          <a:custGeom>
            <a:avLst/>
            <a:gdLst/>
            <a:ahLst/>
            <a:cxnLst/>
            <a:rect l="l" t="t" r="r" b="b"/>
            <a:pathLst>
              <a:path w="11464661" h="7022105">
                <a:moveTo>
                  <a:pt x="0" y="0"/>
                </a:moveTo>
                <a:lnTo>
                  <a:pt x="11464661" y="0"/>
                </a:lnTo>
                <a:lnTo>
                  <a:pt x="11464661" y="7022104"/>
                </a:lnTo>
                <a:lnTo>
                  <a:pt x="0" y="7022104"/>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576748" y="801688"/>
            <a:ext cx="5624511" cy="533466"/>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Arial"/>
                <a:ea typeface="Arial"/>
                <a:cs typeface="Arial"/>
                <a:sym typeface="Arial"/>
              </a:rPr>
              <a:t>Analysis: Store revenue by time</a:t>
            </a:r>
          </a:p>
        </p:txBody>
      </p:sp>
      <p:sp>
        <p:nvSpPr>
          <p:cNvPr id="6" name="TextBox 6"/>
          <p:cNvSpPr txBox="1"/>
          <p:nvPr/>
        </p:nvSpPr>
        <p:spPr>
          <a:xfrm>
            <a:off x="1891115" y="1361480"/>
            <a:ext cx="15202416" cy="834258"/>
          </a:xfrm>
          <a:prstGeom prst="rect">
            <a:avLst/>
          </a:prstGeom>
        </p:spPr>
        <p:txBody>
          <a:bodyPr lIns="0" tIns="0" rIns="0" bIns="0" rtlCol="0" anchor="t">
            <a:spAutoFit/>
          </a:bodyPr>
          <a:lstStyle/>
          <a:p>
            <a:pPr marL="0" lvl="0" indent="0" algn="l">
              <a:lnSpc>
                <a:spcPts val="3359"/>
              </a:lnSpc>
              <a:spcBef>
                <a:spcPct val="0"/>
              </a:spcBef>
            </a:pPr>
            <a:r>
              <a:rPr lang="en-US" sz="2400">
                <a:solidFill>
                  <a:srgbClr val="000000"/>
                </a:solidFill>
                <a:latin typeface="Arial"/>
                <a:ea typeface="Arial"/>
                <a:cs typeface="Arial"/>
                <a:sym typeface="Arial"/>
              </a:rPr>
              <a:t>Insight: Morning sales peak due to Lower Manhattan's strong performance, while Hell’s Kitchen and Astoria contribute consistent revenue throughout the day and night.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222" b="-8222"/>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2413677" y="3623538"/>
            <a:ext cx="13765929" cy="6452779"/>
          </a:xfrm>
          <a:custGeom>
            <a:avLst/>
            <a:gdLst/>
            <a:ahLst/>
            <a:cxnLst/>
            <a:rect l="l" t="t" r="r" b="b"/>
            <a:pathLst>
              <a:path w="13765929" h="6452779">
                <a:moveTo>
                  <a:pt x="0" y="0"/>
                </a:moveTo>
                <a:lnTo>
                  <a:pt x="13765929" y="0"/>
                </a:lnTo>
                <a:lnTo>
                  <a:pt x="13765929" y="6452780"/>
                </a:lnTo>
                <a:lnTo>
                  <a:pt x="0" y="6452780"/>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576748" y="801688"/>
            <a:ext cx="6736923" cy="533466"/>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Arial"/>
                <a:ea typeface="Arial"/>
                <a:cs typeface="Arial"/>
                <a:sym typeface="Arial"/>
              </a:rPr>
              <a:t>Analysis: Monthly total sales per store</a:t>
            </a:r>
          </a:p>
        </p:txBody>
      </p:sp>
      <p:sp>
        <p:nvSpPr>
          <p:cNvPr id="6" name="TextBox 6"/>
          <p:cNvSpPr txBox="1"/>
          <p:nvPr/>
        </p:nvSpPr>
        <p:spPr>
          <a:xfrm>
            <a:off x="1891115" y="1361480"/>
            <a:ext cx="15368185" cy="1253292"/>
          </a:xfrm>
          <a:prstGeom prst="rect">
            <a:avLst/>
          </a:prstGeom>
        </p:spPr>
        <p:txBody>
          <a:bodyPr lIns="0" tIns="0" rIns="0" bIns="0" rtlCol="0" anchor="t">
            <a:spAutoFit/>
          </a:bodyPr>
          <a:lstStyle/>
          <a:p>
            <a:pPr marL="0" lvl="0" indent="0" algn="just">
              <a:lnSpc>
                <a:spcPts val="3359"/>
              </a:lnSpc>
              <a:spcBef>
                <a:spcPct val="0"/>
              </a:spcBef>
            </a:pPr>
            <a:r>
              <a:rPr lang="en-US" sz="2400">
                <a:solidFill>
                  <a:srgbClr val="000000"/>
                </a:solidFill>
                <a:latin typeface="Arial"/>
                <a:ea typeface="Arial"/>
                <a:cs typeface="Arial"/>
                <a:sym typeface="Arial"/>
              </a:rPr>
              <a:t>Insight: All three stores demonstrate a high level of operational consistency, moving in nearly perfect lockstep through the first half of the year. The top performer is Hell's Kitchen, followed by Astoria and Lower Manhattan is trailing yet keeping up.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222" b="-8222"/>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3240571" y="2700496"/>
            <a:ext cx="11806859" cy="7084115"/>
          </a:xfrm>
          <a:custGeom>
            <a:avLst/>
            <a:gdLst/>
            <a:ahLst/>
            <a:cxnLst/>
            <a:rect l="l" t="t" r="r" b="b"/>
            <a:pathLst>
              <a:path w="11806859" h="7084115">
                <a:moveTo>
                  <a:pt x="0" y="0"/>
                </a:moveTo>
                <a:lnTo>
                  <a:pt x="11806858" y="0"/>
                </a:lnTo>
                <a:lnTo>
                  <a:pt x="11806858" y="7084116"/>
                </a:lnTo>
                <a:lnTo>
                  <a:pt x="0" y="7084116"/>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576748" y="801688"/>
            <a:ext cx="6736923" cy="533466"/>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Arial"/>
                <a:ea typeface="Arial"/>
                <a:cs typeface="Arial"/>
                <a:sym typeface="Arial"/>
              </a:rPr>
              <a:t>Analysis: Hotspot locations</a:t>
            </a:r>
          </a:p>
        </p:txBody>
      </p:sp>
      <p:sp>
        <p:nvSpPr>
          <p:cNvPr id="6" name="TextBox 6"/>
          <p:cNvSpPr txBox="1"/>
          <p:nvPr/>
        </p:nvSpPr>
        <p:spPr>
          <a:xfrm>
            <a:off x="1891115" y="1361480"/>
            <a:ext cx="15368185" cy="1253292"/>
          </a:xfrm>
          <a:prstGeom prst="rect">
            <a:avLst/>
          </a:prstGeom>
        </p:spPr>
        <p:txBody>
          <a:bodyPr lIns="0" tIns="0" rIns="0" bIns="0" rtlCol="0" anchor="t">
            <a:spAutoFit/>
          </a:bodyPr>
          <a:lstStyle/>
          <a:p>
            <a:pPr algn="just">
              <a:lnSpc>
                <a:spcPts val="3359"/>
              </a:lnSpc>
            </a:pPr>
            <a:r>
              <a:rPr lang="en-US" sz="2400">
                <a:solidFill>
                  <a:srgbClr val="000000"/>
                </a:solidFill>
                <a:latin typeface="Arial"/>
                <a:ea typeface="Arial"/>
                <a:cs typeface="Arial"/>
                <a:sym typeface="Arial"/>
              </a:rPr>
              <a:t>Insight: Revenue consistently accelerated across all stores from March through June, with Hell's Kitchen maintaining a slight but steady competitive edge as the top-grossing location each month.</a:t>
            </a:r>
          </a:p>
          <a:p>
            <a:pPr marL="0" lvl="0" indent="0" algn="just">
              <a:lnSpc>
                <a:spcPts val="3359"/>
              </a:lnSpc>
              <a:spcBef>
                <a:spcPct val="0"/>
              </a:spcBef>
            </a:pPr>
            <a:endParaRPr lang="en-US" sz="24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222" b="-8222"/>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3448059" y="2281462"/>
            <a:ext cx="11391882" cy="7760720"/>
          </a:xfrm>
          <a:custGeom>
            <a:avLst/>
            <a:gdLst/>
            <a:ahLst/>
            <a:cxnLst/>
            <a:rect l="l" t="t" r="r" b="b"/>
            <a:pathLst>
              <a:path w="11391882" h="7760720">
                <a:moveTo>
                  <a:pt x="0" y="0"/>
                </a:moveTo>
                <a:lnTo>
                  <a:pt x="11391882" y="0"/>
                </a:lnTo>
                <a:lnTo>
                  <a:pt x="11391882" y="7760720"/>
                </a:lnTo>
                <a:lnTo>
                  <a:pt x="0" y="7760720"/>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576748" y="801688"/>
            <a:ext cx="6816169" cy="533466"/>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Arial"/>
                <a:ea typeface="Arial"/>
                <a:cs typeface="Arial"/>
                <a:sym typeface="Arial"/>
              </a:rPr>
              <a:t>Analysis: Best Selling product type</a:t>
            </a:r>
          </a:p>
        </p:txBody>
      </p:sp>
      <p:sp>
        <p:nvSpPr>
          <p:cNvPr id="6" name="TextBox 6"/>
          <p:cNvSpPr txBox="1"/>
          <p:nvPr/>
        </p:nvSpPr>
        <p:spPr>
          <a:xfrm>
            <a:off x="1891115" y="1361480"/>
            <a:ext cx="12437745" cy="834258"/>
          </a:xfrm>
          <a:prstGeom prst="rect">
            <a:avLst/>
          </a:prstGeom>
        </p:spPr>
        <p:txBody>
          <a:bodyPr lIns="0" tIns="0" rIns="0" bIns="0" rtlCol="0" anchor="t">
            <a:spAutoFit/>
          </a:bodyPr>
          <a:lstStyle/>
          <a:p>
            <a:pPr marL="0" lvl="0" indent="0" algn="l">
              <a:lnSpc>
                <a:spcPts val="3359"/>
              </a:lnSpc>
              <a:spcBef>
                <a:spcPct val="0"/>
              </a:spcBef>
            </a:pPr>
            <a:r>
              <a:rPr lang="en-US" sz="2400">
                <a:solidFill>
                  <a:srgbClr val="000000"/>
                </a:solidFill>
                <a:latin typeface="Arial"/>
                <a:ea typeface="Arial"/>
                <a:cs typeface="Arial"/>
                <a:sym typeface="Arial"/>
              </a:rPr>
              <a:t>Insight: Coffee is the undisputed leader, generating significantly more revenue than any other category, followed by Tea and Bakery.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222" b="-8222"/>
            </a:stretch>
          </a:blipFill>
        </p:spPr>
        <p:txBody>
          <a:bodyPr/>
          <a:lstStyle/>
          <a:p>
            <a:endParaRPr lang="en-US"/>
          </a:p>
        </p:txBody>
      </p:sp>
      <p:sp>
        <p:nvSpPr>
          <p:cNvPr id="3" name="Freeform 3"/>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576748" y="801688"/>
            <a:ext cx="6736923" cy="533466"/>
          </a:xfrm>
          <a:prstGeom prst="rect">
            <a:avLst/>
          </a:prstGeom>
        </p:spPr>
        <p:txBody>
          <a:bodyPr lIns="0" tIns="0" rIns="0" bIns="0" rtlCol="0" anchor="t">
            <a:spAutoFit/>
          </a:bodyPr>
          <a:lstStyle/>
          <a:p>
            <a:pPr marL="0" lvl="0" indent="0" algn="l">
              <a:lnSpc>
                <a:spcPts val="4200"/>
              </a:lnSpc>
              <a:spcBef>
                <a:spcPct val="0"/>
              </a:spcBef>
            </a:pPr>
            <a:r>
              <a:rPr lang="en-US" sz="3000">
                <a:solidFill>
                  <a:srgbClr val="000000"/>
                </a:solidFill>
                <a:latin typeface="Arial"/>
                <a:ea typeface="Arial"/>
                <a:cs typeface="Arial"/>
                <a:sym typeface="Arial"/>
              </a:rPr>
              <a:t>Recommendations</a:t>
            </a:r>
          </a:p>
        </p:txBody>
      </p:sp>
      <p:sp>
        <p:nvSpPr>
          <p:cNvPr id="5" name="TextBox 5"/>
          <p:cNvSpPr txBox="1"/>
          <p:nvPr/>
        </p:nvSpPr>
        <p:spPr>
          <a:xfrm>
            <a:off x="1891115" y="1361480"/>
            <a:ext cx="15368185" cy="3767495"/>
          </a:xfrm>
          <a:prstGeom prst="rect">
            <a:avLst/>
          </a:prstGeom>
        </p:spPr>
        <p:txBody>
          <a:bodyPr lIns="0" tIns="0" rIns="0" bIns="0" rtlCol="0" anchor="t">
            <a:spAutoFit/>
          </a:bodyPr>
          <a:lstStyle/>
          <a:p>
            <a:pPr marL="518160" lvl="1" indent="-259080" algn="just">
              <a:lnSpc>
                <a:spcPts val="3359"/>
              </a:lnSpc>
              <a:buFont typeface="Arial"/>
              <a:buChar char="•"/>
            </a:pPr>
            <a:r>
              <a:rPr lang="en-US" sz="2400">
                <a:solidFill>
                  <a:srgbClr val="000000"/>
                </a:solidFill>
                <a:latin typeface="Arial"/>
                <a:ea typeface="Arial"/>
                <a:cs typeface="Arial"/>
                <a:sym typeface="Arial"/>
              </a:rPr>
              <a:t>Morning Dominance: Revenue is highest during the morning hours (approx. R253,000 total), particularly in Lower Manhattan and Hell’s Kitchen. This is the "rush hour."</a:t>
            </a:r>
          </a:p>
          <a:p>
            <a:pPr marL="518160" lvl="1" indent="-259080" algn="just">
              <a:lnSpc>
                <a:spcPts val="3359"/>
              </a:lnSpc>
              <a:buFont typeface="Arial"/>
              <a:buChar char="•"/>
            </a:pPr>
            <a:r>
              <a:rPr lang="en-US" sz="2400">
                <a:solidFill>
                  <a:srgbClr val="000000"/>
                </a:solidFill>
                <a:latin typeface="Arial"/>
                <a:ea typeface="Arial"/>
                <a:cs typeface="Arial"/>
                <a:sym typeface="Arial"/>
              </a:rPr>
              <a:t>The Afternoon Slump: There is a significant dip in sales during the mid-day and afternoon periods across all stores. This represents the greatest opportunity for growth.</a:t>
            </a:r>
          </a:p>
          <a:p>
            <a:pPr marL="518160" lvl="1" indent="-259080" algn="just">
              <a:lnSpc>
                <a:spcPts val="3359"/>
              </a:lnSpc>
              <a:buFont typeface="Arial"/>
              <a:buChar char="•"/>
            </a:pPr>
            <a:r>
              <a:rPr lang="en-US" sz="2400">
                <a:solidFill>
                  <a:srgbClr val="000000"/>
                </a:solidFill>
                <a:latin typeface="Arial"/>
                <a:ea typeface="Arial"/>
                <a:cs typeface="Arial"/>
                <a:sym typeface="Arial"/>
              </a:rPr>
              <a:t>Night Strength: Surprisingly, the stores maintain strong performance at night (approx. R208,000), with Astoria leading this segment.</a:t>
            </a:r>
          </a:p>
          <a:p>
            <a:pPr marL="518160" lvl="1" indent="-259080" algn="just">
              <a:lnSpc>
                <a:spcPts val="3359"/>
              </a:lnSpc>
              <a:buFont typeface="Arial"/>
              <a:buChar char="•"/>
            </a:pPr>
            <a:r>
              <a:rPr lang="en-US" sz="2400">
                <a:solidFill>
                  <a:srgbClr val="000000"/>
                </a:solidFill>
                <a:latin typeface="Arial"/>
                <a:ea typeface="Arial"/>
                <a:cs typeface="Arial"/>
                <a:sym typeface="Arial"/>
              </a:rPr>
              <a:t>Top Products: Barista Espresso and Brewed Chai Tea are your primary revenue drivers. Hot Chocolate also shows strong consistent performance across all locations.</a:t>
            </a:r>
          </a:p>
          <a:p>
            <a:pPr marL="0" lvl="0" indent="0" algn="just">
              <a:lnSpc>
                <a:spcPts val="3359"/>
              </a:lnSpc>
              <a:spcBef>
                <a:spcPct val="0"/>
              </a:spcBef>
            </a:pPr>
            <a:endParaRPr lang="en-US" sz="24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9364" b="-92857"/>
            </a:stretch>
          </a:blipFill>
        </p:spPr>
        <p:txBody>
          <a:bodyPr/>
          <a:lstStyle/>
          <a:p>
            <a:endParaRPr lang="en-US"/>
          </a:p>
        </p:txBody>
      </p:sp>
      <p:sp>
        <p:nvSpPr>
          <p:cNvPr id="3" name="TextBox 3"/>
          <p:cNvSpPr txBox="1"/>
          <p:nvPr/>
        </p:nvSpPr>
        <p:spPr>
          <a:xfrm>
            <a:off x="4551101" y="3578547"/>
            <a:ext cx="9185798" cy="3875629"/>
          </a:xfrm>
          <a:prstGeom prst="rect">
            <a:avLst/>
          </a:prstGeom>
        </p:spPr>
        <p:txBody>
          <a:bodyPr lIns="0" tIns="0" rIns="0" bIns="0" rtlCol="0" anchor="t">
            <a:spAutoFit/>
          </a:bodyPr>
          <a:lstStyle/>
          <a:p>
            <a:pPr algn="ctr">
              <a:lnSpc>
                <a:spcPts val="14958"/>
              </a:lnSpc>
            </a:pPr>
            <a:r>
              <a:rPr lang="en-US" sz="14958" b="1">
                <a:solidFill>
                  <a:srgbClr val="FFFFFF"/>
                </a:solidFill>
                <a:latin typeface="Crusoe Text Bold"/>
                <a:ea typeface="Crusoe Text Bold"/>
                <a:cs typeface="Crusoe Text Bold"/>
                <a:sym typeface="Crusoe Text Bold"/>
              </a:rPr>
              <a:t>THANK</a:t>
            </a:r>
          </a:p>
          <a:p>
            <a:pPr marL="0" lvl="0" indent="0" algn="ctr">
              <a:lnSpc>
                <a:spcPts val="14958"/>
              </a:lnSpc>
            </a:pPr>
            <a:r>
              <a:rPr lang="en-US" sz="14958" b="1">
                <a:solidFill>
                  <a:srgbClr val="FFFFFF"/>
                </a:solidFill>
                <a:latin typeface="Crusoe Text Bold"/>
                <a:ea typeface="Crusoe Text Bold"/>
                <a:cs typeface="Crusoe Text Bold"/>
                <a:sym typeface="Crusoe Text Bold"/>
              </a:rPr>
              <a:t>YOU</a:t>
            </a:r>
          </a:p>
        </p:txBody>
      </p:sp>
      <p:sp>
        <p:nvSpPr>
          <p:cNvPr id="4" name="Freeform 4"/>
          <p:cNvSpPr/>
          <p:nvPr/>
        </p:nvSpPr>
        <p:spPr>
          <a:xfrm>
            <a:off x="1028700" y="638770"/>
            <a:ext cx="404109" cy="779859"/>
          </a:xfrm>
          <a:custGeom>
            <a:avLst/>
            <a:gdLst/>
            <a:ahLst/>
            <a:cxnLst/>
            <a:rect l="l" t="t" r="r" b="b"/>
            <a:pathLst>
              <a:path w="404109" h="779859">
                <a:moveTo>
                  <a:pt x="0" y="0"/>
                </a:moveTo>
                <a:lnTo>
                  <a:pt x="404109" y="0"/>
                </a:lnTo>
                <a:lnTo>
                  <a:pt x="404109" y="779860"/>
                </a:lnTo>
                <a:lnTo>
                  <a:pt x="0" y="7798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576748" y="801688"/>
            <a:ext cx="3532528" cy="533466"/>
          </a:xfrm>
          <a:prstGeom prst="rect">
            <a:avLst/>
          </a:prstGeom>
        </p:spPr>
        <p:txBody>
          <a:bodyPr lIns="0" tIns="0" rIns="0" bIns="0" rtlCol="0" anchor="t">
            <a:spAutoFit/>
          </a:bodyPr>
          <a:lstStyle/>
          <a:p>
            <a:pPr marL="0" lvl="0" indent="0" algn="l">
              <a:lnSpc>
                <a:spcPts val="4200"/>
              </a:lnSpc>
              <a:spcBef>
                <a:spcPct val="0"/>
              </a:spcBef>
            </a:pPr>
            <a:r>
              <a:rPr lang="en-US" sz="3000">
                <a:solidFill>
                  <a:srgbClr val="FFFFFF"/>
                </a:solidFill>
                <a:latin typeface="Arial"/>
                <a:ea typeface="Arial"/>
                <a:cs typeface="Arial"/>
                <a:sym typeface="Arial"/>
              </a:rPr>
              <a:t>Bright Coffee Shop</a:t>
            </a:r>
          </a:p>
        </p:txBody>
      </p:sp>
      <p:sp>
        <p:nvSpPr>
          <p:cNvPr id="6" name="Freeform 6"/>
          <p:cNvSpPr/>
          <p:nvPr/>
        </p:nvSpPr>
        <p:spPr>
          <a:xfrm>
            <a:off x="6247299" y="5896121"/>
            <a:ext cx="466798" cy="466798"/>
          </a:xfrm>
          <a:custGeom>
            <a:avLst/>
            <a:gdLst/>
            <a:ahLst/>
            <a:cxnLst/>
            <a:rect l="l" t="t" r="r" b="b"/>
            <a:pathLst>
              <a:path w="466798" h="466798">
                <a:moveTo>
                  <a:pt x="0" y="0"/>
                </a:moveTo>
                <a:lnTo>
                  <a:pt x="466798" y="0"/>
                </a:lnTo>
                <a:lnTo>
                  <a:pt x="466798" y="466799"/>
                </a:lnTo>
                <a:lnTo>
                  <a:pt x="0" y="4667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6155691" y="3011191"/>
            <a:ext cx="4264618" cy="4264618"/>
          </a:xfrm>
          <a:custGeom>
            <a:avLst/>
            <a:gdLst/>
            <a:ahLst/>
            <a:cxnLst/>
            <a:rect l="l" t="t" r="r" b="b"/>
            <a:pathLst>
              <a:path w="4264618" h="4264618">
                <a:moveTo>
                  <a:pt x="0" y="0"/>
                </a:moveTo>
                <a:lnTo>
                  <a:pt x="4264618" y="0"/>
                </a:lnTo>
                <a:lnTo>
                  <a:pt x="4264618" y="4264618"/>
                </a:lnTo>
                <a:lnTo>
                  <a:pt x="0" y="42646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8" name="Freeform 8"/>
          <p:cNvSpPr/>
          <p:nvPr/>
        </p:nvSpPr>
        <p:spPr>
          <a:xfrm>
            <a:off x="-2132309" y="3011191"/>
            <a:ext cx="4264618" cy="4264618"/>
          </a:xfrm>
          <a:custGeom>
            <a:avLst/>
            <a:gdLst/>
            <a:ahLst/>
            <a:cxnLst/>
            <a:rect l="l" t="t" r="r" b="b"/>
            <a:pathLst>
              <a:path w="4264618" h="4264618">
                <a:moveTo>
                  <a:pt x="0" y="0"/>
                </a:moveTo>
                <a:lnTo>
                  <a:pt x="4264618" y="0"/>
                </a:lnTo>
                <a:lnTo>
                  <a:pt x="4264618" y="4264618"/>
                </a:lnTo>
                <a:lnTo>
                  <a:pt x="0" y="42646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 name="Freeform 9"/>
          <p:cNvSpPr/>
          <p:nvPr/>
        </p:nvSpPr>
        <p:spPr>
          <a:xfrm>
            <a:off x="11575881" y="5896121"/>
            <a:ext cx="466798" cy="466798"/>
          </a:xfrm>
          <a:custGeom>
            <a:avLst/>
            <a:gdLst/>
            <a:ahLst/>
            <a:cxnLst/>
            <a:rect l="l" t="t" r="r" b="b"/>
            <a:pathLst>
              <a:path w="466798" h="466798">
                <a:moveTo>
                  <a:pt x="0" y="0"/>
                </a:moveTo>
                <a:lnTo>
                  <a:pt x="466798" y="0"/>
                </a:lnTo>
                <a:lnTo>
                  <a:pt x="466798" y="466799"/>
                </a:lnTo>
                <a:lnTo>
                  <a:pt x="0" y="4667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Words>
  <Application>Microsoft Office PowerPoint</Application>
  <PresentationFormat>Custom</PresentationFormat>
  <Paragraphs>38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Crusoe Text</vt:lpstr>
      <vt:lpstr>Arial Bold</vt:lpstr>
      <vt:lpstr>Crusoe Text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Brown and White Shadow Modern Bold Sparkle Geometric Coffee Shop Presentation</dc:title>
  <cp:lastModifiedBy>Edwinna Tshidi Seshoka</cp:lastModifiedBy>
  <cp:revision>1</cp:revision>
  <dcterms:created xsi:type="dcterms:W3CDTF">2006-08-16T00:00:00Z</dcterms:created>
  <dcterms:modified xsi:type="dcterms:W3CDTF">2026-03-30T20:53:09Z</dcterms:modified>
  <dc:identifier>DAHFcMd8Fto</dc:identifier>
</cp:coreProperties>
</file>